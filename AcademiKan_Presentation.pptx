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2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1097280"/>
            <a:ext cx="1920240" cy="192024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ACADEMIKAN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</a:rPr>
              <a:t>AI-Powered Kanban Academic Project Tracker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486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A Full-Stack SaaS Platform for Universities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0116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◆  Aayush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◆  Harsha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◆  Abhinav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◆  Manikanta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◆  Srinath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React  •  Node.js  •  MongoDB  •  OpenAI  •  Google OAuth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371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No Centralized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Academic projects are managed via emails, spreadsheets, and disconnected tools — leading to chaos.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371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Zero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Faculty have no real-time view of student progress, blockers, or deadlines.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No AI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Students lack intelligent guidance for task planning, risk detection, and documentation.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56616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749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No Structured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43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No approval pipeline, no role-based access, no accountability system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6576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AcademiKan — One platform for everything academic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Kanban 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Drag-and-drop task management with columns: Todo, In Progress, Blocked,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AI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GPT-3.5 powered task suggestions, deadline risk analysis &amp; document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Role-Based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Students create, Faculty approve, Admins oversee — structured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Analytics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Real-time project health, burndown charts, contribution matrix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Classroom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Assignments, grades, quizzes, whiteboards, meetings &amp; announcements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023360"/>
            <a:ext cx="3566160" cy="210312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Real-time alerts, deadline reminders &amp; daily standup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53035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2103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@hello-pangea/dnd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7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React Router v6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651760" cy="53035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</a:rP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514600"/>
            <a:ext cx="2103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Node.js +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JWT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Multer (File Uploads)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Node-cron 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21207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Express Validator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2651760" cy="53035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</a:rPr>
              <a:t>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514600"/>
            <a:ext cx="2103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MongoDB Atlas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Mongoose ODM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In-memory MongoDB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Aggregation Pipelines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188720"/>
            <a:ext cx="2651760" cy="53035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</a:rPr>
              <a:t>Integrations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514600"/>
            <a:ext cx="2103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OpenAI GPT-3.5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2918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Google OAuth 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Google Auth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 Axios (HTTP Client)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2004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🗂️  Kanban Board with drag-and-drop reordering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🤖  AI Task Suggestions via OpenAI GPT-3.5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⚠️  AI Deadline Risk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9125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📄  AI Document Generator (SRS / Abstract)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587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👤  Role-Based Access: Student / Faculty /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Project Approval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937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📊  Analytics &amp; Burndown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61303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🏆  Gamification &amp; Leaderboards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📅  Daily Standup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🔗  Webhook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👁️  Stakeholder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9125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🎓  Classroom: Assignments, Grades, Quizzes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💬  Comments &amp;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📁  File 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937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🔐  Google OAuth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🌐  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React 18 + Vite + Tailwind CSS
React Router • Recharts • @hello-pangea/dnd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371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⚡  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Node.js + Express REST API
JWT Middleware • Role Guards • Multer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79"/>
            <a:ext cx="10515600" cy="1097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79"/>
            <a:ext cx="137160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🗄️  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1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MongoDB Atlas + Mongoose ODM
Aggregation Pipelines • Indexes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9377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37160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🔌  EXTERNAL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7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OpenAI GPT-3.5  •  Google OAuth 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MEET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200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94560" cy="228600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417319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3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Aayush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</a:rPr>
              <a:t>Full Stack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React • Node.js • 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280160"/>
            <a:ext cx="2194560" cy="228600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417319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6303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Harsha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</a:rPr>
              <a:t>Backend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546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Express • JWT •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280160"/>
            <a:ext cx="2194560" cy="228600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2160" y="1417319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6303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Abhinav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</a:rPr>
              <a:t>Frontend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546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React • Tailwind • UI/UX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3840480"/>
            <a:ext cx="2194560" cy="228600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86000" y="397764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Manikanta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</a:rPr>
              <a:t>AI &amp; ML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OpenAI • Python • Analytics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840480"/>
            <a:ext cx="2194560" cy="2286000"/>
          </a:xfrm>
          <a:prstGeom prst="rect">
            <a:avLst/>
          </a:prstGeom>
          <a:solidFill>
            <a:srgbClr val="17255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63440" y="397764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023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Srinath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</a:rPr>
              <a:t>DevOps &amp;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MongoDB • Docker • Google OAuth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9659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88720"/>
            <a:ext cx="132588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070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Kanban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88720"/>
            <a:ext cx="1600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20700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188720"/>
            <a:ext cx="178308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2070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Academic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88720"/>
            <a:ext cx="132588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2070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Free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188720"/>
            <a:ext cx="1600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20700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Classroom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37360"/>
            <a:ext cx="196596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AcademiKan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7373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18105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 Full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7373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18105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 GPT-3.5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1737360"/>
            <a:ext cx="17830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8105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 Built for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7373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8105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 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17373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8105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 Full Suite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423160"/>
            <a:ext cx="196596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496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Trello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4231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2496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Basic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4231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4963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2423160"/>
            <a:ext cx="17830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63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Generic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24231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2496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4231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4963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108960"/>
            <a:ext cx="196596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1821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Jira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31089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0" y="31821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Full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1089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3182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Limited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3108960"/>
            <a:ext cx="17830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31821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Generic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31089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31821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10 users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31089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182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794760"/>
            <a:ext cx="196596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3867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Notion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7947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0" y="38679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Basic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37947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867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Limited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3794760"/>
            <a:ext cx="17830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38679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Generic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37947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35240" y="38679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37947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867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80560"/>
            <a:ext cx="196596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45537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Canvas LMS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44805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0" y="45537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44805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45537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4480560"/>
            <a:ext cx="17830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60720" y="45537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0" y="4480560"/>
            <a:ext cx="132588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45537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6840" y="4480560"/>
            <a:ext cx="1600200" cy="6217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45537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Partial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166360"/>
            <a:ext cx="196596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4360" y="5239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Asana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06040" y="51663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51760" y="52395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Full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51663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52395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Limited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0" y="5166360"/>
            <a:ext cx="17830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0" y="52395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Generic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89520" y="5166360"/>
            <a:ext cx="132588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35240" y="52395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06840" y="5166360"/>
            <a:ext cx="1600200" cy="621792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52560" y="52395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</a:rPr>
              <a:t> None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 AcademiKan is the only platform combining Kanban + AI + Academic workflow + Classroom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MSP — MINIMUM SELLABLE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5486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</a:rPr>
              <a:t>Core features required before first paying 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4937760"/>
          </a:xfrm>
          <a:prstGeom prst="rect">
            <a:avLst/>
          </a:prstGeom>
          <a:solidFill>
            <a:srgbClr val="141E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Phase 1 —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User Auth (JWT + Google OAuth)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Role-based access: Student / Faculty /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Project creation &amp; approval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Kanban board with drag-and-drop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566160" cy="4937760"/>
          </a:xfrm>
          <a:prstGeom prst="rect">
            <a:avLst/>
          </a:prstGeom>
          <a:solidFill>
            <a:srgbClr val="14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35661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Phase 2 —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AI task suggestions (OpenAI GPT-3.5)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AI deadline risk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AI document generator (SRS/Abstract)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17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Analytics &amp; burndown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566160" cy="4937760"/>
          </a:xfrm>
          <a:prstGeom prst="rect">
            <a:avLst/>
          </a:prstGeom>
          <a:solidFill>
            <a:srgbClr val="141E3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56616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Phase 3 —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1488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Classroom tools (assignments, grades, quizzes)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71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Gamification &amp; leaderboards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Standup tracker &amp;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17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Stakeholder portal &amp; webhooks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All 3 phases are COMPLETE — AcademiKan is ready to sell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CUSTOMER REVIEWS &amp;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394960" cy="2194560"/>
          </a:xfrm>
          <a:prstGeom prst="rect">
            <a:avLst/>
          </a:prstGeom>
          <a:solidFill>
            <a:srgbClr val="172554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80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Rahul V., CSE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"Finally a tool that actually understands academic projects. The AI task suggestions saved me hours of planning!"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2194560"/>
          </a:xfrm>
          <a:prstGeom prst="rect">
            <a:avLst/>
          </a:prstGeom>
          <a:solidFill>
            <a:srgbClr val="172554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Dr. Sharma, Faculty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"I can now track all my students' projects in one place. The approval workflow is exactly what we needed."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5394960" cy="2194560"/>
          </a:xfrm>
          <a:prstGeom prst="rect">
            <a:avLst/>
          </a:prstGeom>
          <a:solidFill>
            <a:srgbClr val="172554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49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Priya P., ECE 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"The Kanban board is super intuitive. Would love more AI features in the free tier."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394960" cy="2194560"/>
          </a:xfrm>
          <a:prstGeom prst="rect">
            <a:avLst/>
          </a:prstGeom>
          <a:solidFill>
            <a:srgbClr val="172554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Admin,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"Replaced 3 different tools with AcademiKan. Analytics dashboard gives us insights we never had before."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COMMON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Q: Is it free?    Yes, free tier available. Premium unlocks AI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6400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Q: Can faculty track multiple batches?    Yes, unlimited projects for faculty.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00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Q: Is student data secure?    JWT auth + role-based access ensures full data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FINANCIAL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2004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120640" cy="2560320"/>
          </a:xfrm>
          <a:prstGeom prst="rect">
            <a:avLst/>
          </a:prstGeom>
          <a:solidFill>
            <a:srgbClr val="0F1E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512064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Free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?0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3 projects, basic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214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Student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21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?199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214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Unlimited projects + AI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9689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Faculty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5968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?499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59689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Full access + classroom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723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University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0723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?9,999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723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Entire institution, admin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REVENUE PROJECTIONS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45920"/>
            <a:ext cx="5212080" cy="566928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71907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Year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5 universities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?6,00,000 ARR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304288"/>
            <a:ext cx="5212080" cy="566928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774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Year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25 universities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?30,00,000 ARR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62656"/>
            <a:ext cx="5212080" cy="566928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03580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Year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035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100 universities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035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?1,20,00,000 ARR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840480"/>
            <a:ext cx="5120640" cy="2651760"/>
          </a:xfrm>
          <a:prstGeom prst="rect">
            <a:avLst/>
          </a:prstGeom>
          <a:solidFill>
            <a:srgbClr val="0F1E3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3840480"/>
            <a:ext cx="512064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58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COST BREAKDOWN (Year 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Cloud Hosting (Render + Atlas)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?60,000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097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OpenAI API Usage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8097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?40,000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2303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Domain &amp; SSL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230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?5,000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Marketing &amp; Outreach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650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?80,000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0716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Development &amp; Maintenance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60716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?1,20,000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840480"/>
            <a:ext cx="5486400" cy="2651760"/>
          </a:xfrm>
          <a:prstGeom prst="rect">
            <a:avLst/>
          </a:prstGeom>
          <a:solidFill>
            <a:srgbClr val="0F1E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3840480"/>
            <a:ext cx="54864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3858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BREAK-EVEN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Total Year 1 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?3,05,000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809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Break-even Users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4809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~153 Premium Students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230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Break-even Timeline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5230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Month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650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Gross Margin (Y1)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5650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~51%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6071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Gross Margin (Y3)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6071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~78%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371600"/>
            <a:ext cx="7589520" cy="41148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75895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5394960"/>
            <a:ext cx="758952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BD5E1"/>
                </a:solidFill>
              </a:rPr>
              <a:t>AcademiKan — Empowering Academic Excellence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434840"/>
            <a:ext cx="39319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BBF24"/>
                </a:solidFill>
              </a:rPr>
              <a:t>Aayush  •  Harsha  •  Abhinav  •  Manikanta  •  Srinath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</a:rPr>
              <a:t>How we reach universities, faculty and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🎓  Campus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Direct demos at engineering colleges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Partner with HODs &amp; department heads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77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Free pilot program for 1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49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On-campus ambassador program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566160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📱  Social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933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LinkedIn posts targeting faculty &amp; admins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Instagram reels showing Kanban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077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YouTube tutorials &amp; feature walkthroughs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649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Twitter/X dev community engagement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463040"/>
            <a:ext cx="356616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🤝  University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9933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MoU with 5 colleges in Year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Integrate with existing college ERP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9077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Offer white-label version for institutions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3649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Attend EdTech conferences &amp; expos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69080"/>
            <a:ext cx="356616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96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Freemium Funnel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99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Free tier drives organic sign-ups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566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In-app upgrade prompts for AI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138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- 30-day premium trial for new colleges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710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Referral rewards for student ambassadors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06908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4069080"/>
            <a:ext cx="3566160" cy="4389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096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Direct 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599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Cold email campaigns to college admins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0566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Google Ads targeting 'project management for students'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5138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SEO blog: academic project tips &amp;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9710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Product Hunt &amp; EdTech directories listing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069080"/>
            <a:ext cx="3566160" cy="2468880"/>
          </a:xfrm>
          <a:prstGeom prst="rect">
            <a:avLst/>
          </a:prstGeom>
          <a:solidFill>
            <a:srgbClr val="17255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4069080"/>
            <a:ext cx="356616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096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  Growth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599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Target: 500 users in Month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0566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Target: 5 universities by Month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5138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NPS score tracking every quarter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9710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- Churn rate &lt; 5% monthly goal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